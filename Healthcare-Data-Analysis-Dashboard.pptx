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17"/>
    </p:embeddedFont>
    <p:embeddedFont>
      <p:font typeface="Lora Bold"/>
      <p:regular r:id="rId18"/>
    </p:embeddedFont>
    <p:embeddedFont>
      <p:font typeface="Source Sans 3"/>
      <p:regular r:id="rId19"/>
    </p:embeddedFont>
    <p:embeddedFont>
      <p:font typeface="Source Sans 3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9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67513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Healthcare Data Analysis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779514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Transforming raw patient records into actionable hospital intelligence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3187154"/>
            <a:ext cx="600373" cy="281136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6" name="Text 3"/>
          <p:cNvSpPr/>
          <p:nvPr/>
        </p:nvSpPr>
        <p:spPr>
          <a:xfrm>
            <a:off x="4042321" y="3232026"/>
            <a:ext cx="87808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27736" y="3187154"/>
            <a:ext cx="381000" cy="281136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8" name="Text 5"/>
          <p:cNvSpPr/>
          <p:nvPr/>
        </p:nvSpPr>
        <p:spPr>
          <a:xfrm>
            <a:off x="4717479" y="3232026"/>
            <a:ext cx="65871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83522" y="3187154"/>
            <a:ext cx="676945" cy="281136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10" name="Text 7"/>
          <p:cNvSpPr/>
          <p:nvPr/>
        </p:nvSpPr>
        <p:spPr>
          <a:xfrm>
            <a:off x="5173266" y="3232026"/>
            <a:ext cx="954658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35253" y="3187154"/>
            <a:ext cx="1234753" cy="281136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12" name="Text 9"/>
          <p:cNvSpPr/>
          <p:nvPr/>
        </p:nvSpPr>
        <p:spPr>
          <a:xfrm>
            <a:off x="5924996" y="3232026"/>
            <a:ext cx="151246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JUPYTER NOTEBOOK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04417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143646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55,500 patient records to uncover trends in admissions, billing, conditions, and insurance.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551286"/>
            <a:ext cx="2599209" cy="519113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673150" y="270085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Records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72358" y="2551286"/>
            <a:ext cx="2599209" cy="519113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3421931" y="270085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Hospital Billing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21139" y="2551286"/>
            <a:ext cx="2599283" cy="519113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9" name="Text 7"/>
          <p:cNvSpPr/>
          <p:nvPr/>
        </p:nvSpPr>
        <p:spPr>
          <a:xfrm>
            <a:off x="6170712" y="270085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Disease Trends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3577" y="3219971"/>
            <a:ext cx="3973637" cy="519113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673150" y="336954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Insurance Usage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46786" y="3219971"/>
            <a:ext cx="3973637" cy="519113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58" y="3369543"/>
            <a:ext cx="181562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982" y="404366"/>
            <a:ext cx="436185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 Hospitals Face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982" y="1356420"/>
            <a:ext cx="5248870" cy="2974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196" y="1058614"/>
            <a:ext cx="19698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Challenges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908" y="1371972"/>
            <a:ext cx="2695873" cy="4768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02859" y="1514773"/>
            <a:ext cx="235312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Tracking admissions manually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2908" y="1959248"/>
            <a:ext cx="2695873" cy="4768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2859" y="2102048"/>
            <a:ext cx="235312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Time-consuming billing analysis</a:t>
            </a:r>
            <a:endParaRPr lang="en-US" sz="1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2908" y="2546524"/>
            <a:ext cx="2695873" cy="47684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02859" y="2689324"/>
            <a:ext cx="235312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Identifying common diseases</a:t>
            </a:r>
            <a:endParaRPr lang="en-US" sz="1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2908" y="3133799"/>
            <a:ext cx="2695873" cy="47684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02859" y="3276600"/>
            <a:ext cx="235312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 insurance reporting</a:t>
            </a: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6017196" y="3734916"/>
            <a:ext cx="2681585" cy="879872"/>
          </a:xfrm>
          <a:prstGeom prst="roundRect">
            <a:avLst>
              <a:gd name="adj" fmla="val 2192"/>
            </a:avLst>
          </a:prstGeom>
          <a:solidFill>
            <a:srgbClr val="B6FCB8"/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5709" y="3916338"/>
            <a:ext cx="160660" cy="1285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34882" y="3877419"/>
            <a:ext cx="2135386" cy="573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Solution: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Data analysis + visualization converts raw data into meaningful insights.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87301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01316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55,500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930622" y="228198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84860" y="1601316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13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3691905" y="228198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6143" y="1601316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6453188" y="228198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Categories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3577" y="2819772"/>
            <a:ext cx="2268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Demographics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3577" y="3189312"/>
            <a:ext cx="3865959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Name, Age, Gender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Blood Type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 of Admission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9226" y="281977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Clinical &amp; Financial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9226" y="3189312"/>
            <a:ext cx="3865959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Medical Condition, Medication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Doctor, Hospital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Insurance Provider, Billing Amount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Admission Type, Test Results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57077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996306"/>
            <a:ext cx="1092622" cy="6752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85854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168253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Pandas · NumPy — data manipulation and statistical analysis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1" y="1996306"/>
            <a:ext cx="1092622" cy="6752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94521" y="285854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94521" y="3168253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Filtering · Queries · Aggregation for structured data analysis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64" y="1996306"/>
            <a:ext cx="1092622" cy="6752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5464" y="285854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5464" y="3168253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dashboards · Charts · KPIs for stakeholder reporting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07" y="1996306"/>
            <a:ext cx="1092696" cy="6753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36407" y="285861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36407" y="3168328"/>
            <a:ext cx="188401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 · Exploratory Data Analysis (EDA)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57436"/>
            <a:ext cx="510086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 &amp; Preparation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64" y="1296665"/>
            <a:ext cx="6296471" cy="2881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6399" y="3500745"/>
            <a:ext cx="14107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 Dataset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26611" y="3500745"/>
            <a:ext cx="14107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Convert Dates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044921" y="3500745"/>
            <a:ext cx="14107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 Types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530843" y="3500745"/>
            <a:ext cx="14107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Check Missing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346600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rigorous cleaning pipeline ensures every insight is built on accurate, reliable data.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9226" y="1512540"/>
            <a:ext cx="1858194" cy="1185565"/>
          </a:xfrm>
          <a:prstGeom prst="roundRect">
            <a:avLst>
              <a:gd name="adj" fmla="val 189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927848" y="1681163"/>
            <a:ext cx="15209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 Age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27848" y="2050703"/>
            <a:ext cx="15209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≈ 51.5 years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766992" y="1512540"/>
            <a:ext cx="1858194" cy="1185565"/>
          </a:xfrm>
          <a:prstGeom prst="roundRect">
            <a:avLst>
              <a:gd name="adj" fmla="val 189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35614" y="1681163"/>
            <a:ext cx="15209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 Split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35614" y="2050703"/>
            <a:ext cx="152094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Male: 27,774 · Female: 27,726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9226" y="2847677"/>
            <a:ext cx="3865959" cy="946175"/>
          </a:xfrm>
          <a:prstGeom prst="roundRect">
            <a:avLst>
              <a:gd name="adj" fmla="val 2372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27848" y="301630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Avg. Billing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27848" y="3385840"/>
            <a:ext cx="352871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≈ ₹25,539 per patient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18505"/>
            <a:ext cx="5201841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 Features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15392" y="1141586"/>
            <a:ext cx="3984129" cy="1097831"/>
          </a:xfrm>
          <a:prstGeom prst="roundRect">
            <a:avLst>
              <a:gd name="adj" fmla="val 2012"/>
            </a:avLst>
          </a:prstGeom>
          <a:solidFill>
            <a:srgbClr val="F3E7D4"/>
          </a:solidFill>
          <a:ln/>
        </p:spPr>
      </p:sp>
      <p:sp>
        <p:nvSpPr>
          <p:cNvPr id="4" name="Shape 2"/>
          <p:cNvSpPr/>
          <p:nvPr/>
        </p:nvSpPr>
        <p:spPr>
          <a:xfrm>
            <a:off x="662657" y="1288852"/>
            <a:ext cx="441796" cy="441796"/>
          </a:xfrm>
          <a:prstGeom prst="roundRect">
            <a:avLst>
              <a:gd name="adj" fmla="val 12934541"/>
            </a:avLst>
          </a:prstGeom>
          <a:solidFill>
            <a:srgbClr val="3851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175" y="1410370"/>
            <a:ext cx="198760" cy="19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657" y="1875606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Patients KPI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44479" y="1141586"/>
            <a:ext cx="3984129" cy="1097831"/>
          </a:xfrm>
          <a:prstGeom prst="roundRect">
            <a:avLst>
              <a:gd name="adj" fmla="val 2012"/>
            </a:avLst>
          </a:prstGeom>
          <a:solidFill>
            <a:srgbClr val="F3E7D4"/>
          </a:solidFill>
          <a:ln/>
        </p:spPr>
      </p:sp>
      <p:sp>
        <p:nvSpPr>
          <p:cNvPr id="8" name="Shape 5"/>
          <p:cNvSpPr/>
          <p:nvPr/>
        </p:nvSpPr>
        <p:spPr>
          <a:xfrm>
            <a:off x="4791745" y="1288852"/>
            <a:ext cx="441796" cy="441796"/>
          </a:xfrm>
          <a:prstGeom prst="roundRect">
            <a:avLst>
              <a:gd name="adj" fmla="val 12934541"/>
            </a:avLst>
          </a:prstGeom>
          <a:solidFill>
            <a:srgbClr val="38512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3263" y="1410370"/>
            <a:ext cx="198760" cy="198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91745" y="1875606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Billing Summary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15392" y="2384375"/>
            <a:ext cx="3984129" cy="1097831"/>
          </a:xfrm>
          <a:prstGeom prst="roundRect">
            <a:avLst>
              <a:gd name="adj" fmla="val 2012"/>
            </a:avLst>
          </a:prstGeom>
          <a:solidFill>
            <a:srgbClr val="F3E7D4"/>
          </a:solidFill>
          <a:ln/>
        </p:spPr>
      </p:sp>
      <p:sp>
        <p:nvSpPr>
          <p:cNvPr id="12" name="Shape 8"/>
          <p:cNvSpPr/>
          <p:nvPr/>
        </p:nvSpPr>
        <p:spPr>
          <a:xfrm>
            <a:off x="662657" y="2531641"/>
            <a:ext cx="441796" cy="441796"/>
          </a:xfrm>
          <a:prstGeom prst="roundRect">
            <a:avLst>
              <a:gd name="adj" fmla="val 12934541"/>
            </a:avLst>
          </a:prstGeom>
          <a:solidFill>
            <a:srgbClr val="38512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175" y="2653159"/>
            <a:ext cx="198760" cy="198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657" y="3118396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 Distribution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644479" y="2384375"/>
            <a:ext cx="3984129" cy="1097831"/>
          </a:xfrm>
          <a:prstGeom prst="roundRect">
            <a:avLst>
              <a:gd name="adj" fmla="val 2012"/>
            </a:avLst>
          </a:prstGeom>
          <a:solidFill>
            <a:srgbClr val="F3E7D4"/>
          </a:solidFill>
          <a:ln/>
        </p:spPr>
      </p:sp>
      <p:sp>
        <p:nvSpPr>
          <p:cNvPr id="16" name="Shape 11"/>
          <p:cNvSpPr/>
          <p:nvPr/>
        </p:nvSpPr>
        <p:spPr>
          <a:xfrm>
            <a:off x="4791745" y="2531641"/>
            <a:ext cx="441796" cy="441796"/>
          </a:xfrm>
          <a:prstGeom prst="roundRect">
            <a:avLst>
              <a:gd name="adj" fmla="val 12934541"/>
            </a:avLst>
          </a:prstGeom>
          <a:solidFill>
            <a:srgbClr val="38512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3263" y="2653159"/>
            <a:ext cx="198760" cy="198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91745" y="3118396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Condition Analysis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15392" y="3627165"/>
            <a:ext cx="3984129" cy="1097831"/>
          </a:xfrm>
          <a:prstGeom prst="roundRect">
            <a:avLst>
              <a:gd name="adj" fmla="val 2012"/>
            </a:avLst>
          </a:prstGeom>
          <a:solidFill>
            <a:srgbClr val="F3E7D4"/>
          </a:solidFill>
          <a:ln/>
        </p:spPr>
      </p:sp>
      <p:sp>
        <p:nvSpPr>
          <p:cNvPr id="20" name="Shape 14"/>
          <p:cNvSpPr/>
          <p:nvPr/>
        </p:nvSpPr>
        <p:spPr>
          <a:xfrm>
            <a:off x="662657" y="3774430"/>
            <a:ext cx="441796" cy="441796"/>
          </a:xfrm>
          <a:prstGeom prst="roundRect">
            <a:avLst>
              <a:gd name="adj" fmla="val 12934541"/>
            </a:avLst>
          </a:prstGeom>
          <a:solidFill>
            <a:srgbClr val="38512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175" y="3895948"/>
            <a:ext cx="198760" cy="198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2657" y="436118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Insurance Providers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644479" y="3627165"/>
            <a:ext cx="3984129" cy="1097831"/>
          </a:xfrm>
          <a:prstGeom prst="roundRect">
            <a:avLst>
              <a:gd name="adj" fmla="val 2012"/>
            </a:avLst>
          </a:prstGeom>
          <a:solidFill>
            <a:srgbClr val="F3E7D4"/>
          </a:solidFill>
          <a:ln/>
        </p:spPr>
      </p:sp>
      <p:sp>
        <p:nvSpPr>
          <p:cNvPr id="24" name="Shape 17"/>
          <p:cNvSpPr/>
          <p:nvPr/>
        </p:nvSpPr>
        <p:spPr>
          <a:xfrm>
            <a:off x="4791745" y="3774430"/>
            <a:ext cx="441796" cy="441796"/>
          </a:xfrm>
          <a:prstGeom prst="roundRect">
            <a:avLst>
              <a:gd name="adj" fmla="val 12934541"/>
            </a:avLst>
          </a:prstGeom>
          <a:solidFill>
            <a:srgbClr val="38512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3263" y="3895948"/>
            <a:ext cx="198760" cy="198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91745" y="436118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Filters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27286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Outcomes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41302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55,500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930622" y="252196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Records Analyzed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84860" y="1841302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3691905" y="252196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Disease Trends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6143" y="1841302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6425431" y="2521967"/>
            <a:ext cx="181562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Dashboard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686" y="2914836"/>
            <a:ext cx="224358" cy="2243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9724" y="291018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Insights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572" y="2914836"/>
            <a:ext cx="224358" cy="2243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1611" y="291018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Billing Analysis</a:t>
            </a:r>
            <a:endParaRPr lang="en-US" sz="13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686" y="3667460"/>
            <a:ext cx="224358" cy="2243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9724" y="36628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Insurance Tracking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1572" y="3667460"/>
            <a:ext cx="224358" cy="2243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51611" y="36628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96901"/>
            <a:ext cx="489815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061270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Python, SQL, and Power BI transform hospital data into faster, smarter decisions.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2708300"/>
            <a:ext cx="4667845" cy="1038225"/>
          </a:xfrm>
          <a:prstGeom prst="roundRect">
            <a:avLst>
              <a:gd name="adj" fmla="val 2162"/>
            </a:avLst>
          </a:prstGeom>
          <a:solidFill>
            <a:srgbClr val="F3E7D4"/>
          </a:solidFill>
          <a:ln/>
        </p:spPr>
      </p:sp>
      <p:sp>
        <p:nvSpPr>
          <p:cNvPr id="6" name="Shape 3"/>
          <p:cNvSpPr/>
          <p:nvPr/>
        </p:nvSpPr>
        <p:spPr>
          <a:xfrm>
            <a:off x="523577" y="2708300"/>
            <a:ext cx="2333923" cy="519113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7" name="Text 4"/>
          <p:cNvSpPr/>
          <p:nvPr/>
        </p:nvSpPr>
        <p:spPr>
          <a:xfrm>
            <a:off x="673150" y="2857872"/>
            <a:ext cx="176249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Dashboard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857500" y="2708300"/>
            <a:ext cx="2333923" cy="519113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2708300"/>
            <a:ext cx="19050" cy="519113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0" name="Text 7"/>
          <p:cNvSpPr/>
          <p:nvPr/>
        </p:nvSpPr>
        <p:spPr>
          <a:xfrm>
            <a:off x="3007072" y="285787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Predictive Analytics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3577" y="3227412"/>
            <a:ext cx="4667845" cy="519113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2" name="Shape 9"/>
          <p:cNvSpPr/>
          <p:nvPr/>
        </p:nvSpPr>
        <p:spPr>
          <a:xfrm>
            <a:off x="523577" y="3227412"/>
            <a:ext cx="4667845" cy="1905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3" name="Text 10"/>
          <p:cNvSpPr/>
          <p:nvPr/>
        </p:nvSpPr>
        <p:spPr>
          <a:xfrm>
            <a:off x="673150" y="3376985"/>
            <a:ext cx="176554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Patient Monitoring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2026-05-29T04:58:39Z</dcterms:created>
  <dcterms:modified xsi:type="dcterms:W3CDTF">2026-05-29T04:58:39Z</dcterms:modified>
</cp:coreProperties>
</file>